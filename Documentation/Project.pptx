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6"/>
    <p:sldId id="260" r:id="rId7"/>
    <p:sldId id="261" r:id="rId8"/>
    <p:sldId id="262" r:id="rId9"/>
    <p:sldId id="263" r:id="rId10"/>
    <p:sldId id="264" r:id="rId11"/>
    <p:sldId id="266" r:id="rId12"/>
    <p:sldId id="267" r:id="rId13"/>
  </p:sldIdLst>
  <p:sldSz cx="18288000" cy="10287000"/>
  <p:notesSz cx="6858000" cy="9144000"/>
  <p:embeddedFontLst>
    <p:embeddedFont>
      <p:font typeface="Canva Sans Bold" panose="020B0604020202020204" charset="0"/>
      <p:regular r:id="rId14"/>
    </p:embeddedFont>
    <p:embeddedFont>
      <p:font typeface="Heading Now 31-38 Bold" panose="020B0604020202020204" charset="0"/>
      <p:regular r:id="rId15"/>
    </p:embeddedFont>
    <p:embeddedFont>
      <p:font typeface="Prompt" panose="00000500000000000000" pitchFamily="2" charset="-34"/>
      <p:regular r:id="rId16"/>
    </p:embeddedFont>
    <p:embeddedFont>
      <p:font typeface="Prompt Light" panose="00000400000000000000" pitchFamily="2" charset="-34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37" d="100"/>
          <a:sy n="37" d="100"/>
        </p:scale>
        <p:origin x="1060" y="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040418" y="1001224"/>
            <a:ext cx="14153488" cy="2183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599"/>
              </a:lnSpc>
              <a:spcBef>
                <a:spcPct val="0"/>
              </a:spcBef>
            </a:pPr>
            <a:r>
              <a:rPr lang="en-US" sz="11142" b="1">
                <a:solidFill>
                  <a:srgbClr val="12229D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DEVSECOPS PIPELINE </a:t>
            </a:r>
          </a:p>
        </p:txBody>
      </p:sp>
      <p:sp>
        <p:nvSpPr>
          <p:cNvPr id="4" name="AutoShape 4"/>
          <p:cNvSpPr/>
          <p:nvPr/>
        </p:nvSpPr>
        <p:spPr>
          <a:xfrm>
            <a:off x="3033434" y="8549440"/>
            <a:ext cx="12221131" cy="0"/>
          </a:xfrm>
          <a:prstGeom prst="line">
            <a:avLst/>
          </a:prstGeom>
          <a:ln w="38100" cap="flat">
            <a:solidFill>
              <a:srgbClr val="00004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Freeform 5"/>
          <p:cNvSpPr/>
          <p:nvPr/>
        </p:nvSpPr>
        <p:spPr>
          <a:xfrm>
            <a:off x="17259300" y="511855"/>
            <a:ext cx="398139" cy="873113"/>
          </a:xfrm>
          <a:custGeom>
            <a:avLst/>
            <a:gdLst/>
            <a:ahLst/>
            <a:cxnLst/>
            <a:rect l="l" t="t" r="r" b="b"/>
            <a:pathLst>
              <a:path w="398139" h="873113">
                <a:moveTo>
                  <a:pt x="0" y="0"/>
                </a:moveTo>
                <a:lnTo>
                  <a:pt x="398139" y="0"/>
                </a:lnTo>
                <a:lnTo>
                  <a:pt x="398139" y="873112"/>
                </a:lnTo>
                <a:lnTo>
                  <a:pt x="0" y="8731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2040418" y="407080"/>
            <a:ext cx="14506417" cy="88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73"/>
              </a:lnSpc>
              <a:spcBef>
                <a:spcPct val="0"/>
              </a:spcBef>
            </a:pPr>
            <a:r>
              <a:rPr lang="en-US" sz="5195" spc="1283">
                <a:solidFill>
                  <a:srgbClr val="00004D"/>
                </a:solidFill>
                <a:latin typeface="Prompt"/>
                <a:ea typeface="Prompt"/>
                <a:cs typeface="Prompt"/>
                <a:sym typeface="Prompt"/>
              </a:rPr>
              <a:t>PROJECT TITLE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228451" y="3591388"/>
            <a:ext cx="5301846" cy="4408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485"/>
              </a:lnSpc>
              <a:spcBef>
                <a:spcPct val="0"/>
              </a:spcBef>
            </a:pPr>
            <a:r>
              <a:rPr lang="en-US" sz="6061" b="1" u="none" strike="noStrike">
                <a:solidFill>
                  <a:srgbClr val="00004D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Aryan Bamne</a:t>
            </a:r>
          </a:p>
          <a:p>
            <a:pPr marL="0" lvl="0" indent="0" algn="l">
              <a:lnSpc>
                <a:spcPts val="8485"/>
              </a:lnSpc>
              <a:spcBef>
                <a:spcPct val="0"/>
              </a:spcBef>
            </a:pPr>
            <a:r>
              <a:rPr lang="en-US" sz="6061" b="1" u="none" strike="noStrike">
                <a:solidFill>
                  <a:srgbClr val="00004D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Souvik Kumar Pramanik</a:t>
            </a:r>
          </a:p>
          <a:p>
            <a:pPr marL="0" lvl="0" indent="0" algn="l">
              <a:lnSpc>
                <a:spcPts val="8485"/>
              </a:lnSpc>
              <a:spcBef>
                <a:spcPct val="0"/>
              </a:spcBef>
            </a:pPr>
            <a:r>
              <a:rPr lang="en-US" sz="6061" b="1" u="none" strike="noStrike">
                <a:solidFill>
                  <a:srgbClr val="00004D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Somya Jain </a:t>
            </a:r>
          </a:p>
          <a:p>
            <a:pPr marL="0" lvl="0" indent="0" algn="l">
              <a:lnSpc>
                <a:spcPts val="8485"/>
              </a:lnSpc>
              <a:spcBef>
                <a:spcPct val="0"/>
              </a:spcBef>
            </a:pPr>
            <a:r>
              <a:rPr lang="en-US" sz="6061" b="1" u="none" strike="noStrike">
                <a:solidFill>
                  <a:srgbClr val="00004D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Chirayu Humar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119823" y="9420786"/>
            <a:ext cx="7134743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355"/>
              </a:lnSpc>
              <a:spcBef>
                <a:spcPct val="0"/>
              </a:spcBef>
            </a:pPr>
            <a:r>
              <a:rPr lang="en-US" sz="2796" spc="-55">
                <a:solidFill>
                  <a:srgbClr val="00004D"/>
                </a:solidFill>
                <a:latin typeface="Prompt Light"/>
                <a:ea typeface="Prompt Light"/>
                <a:cs typeface="Prompt Light"/>
                <a:sym typeface="Prompt Light"/>
              </a:rPr>
              <a:t>31 January</a:t>
            </a:r>
            <a:r>
              <a:rPr lang="en-US" sz="2796" u="none" strike="noStrike" spc="-55">
                <a:solidFill>
                  <a:srgbClr val="00004D"/>
                </a:solidFill>
                <a:latin typeface="Prompt Light"/>
                <a:ea typeface="Prompt Light"/>
                <a:cs typeface="Prompt Light"/>
                <a:sym typeface="Prompt Light"/>
              </a:rPr>
              <a:t>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431059" y="875922"/>
            <a:ext cx="12920704" cy="2039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96"/>
              </a:lnSpc>
            </a:pPr>
            <a:r>
              <a:rPr lang="en-US" sz="14400" b="1">
                <a:solidFill>
                  <a:srgbClr val="12229D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 NEED FOR PIPELINE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74666" y="3332480"/>
            <a:ext cx="15484634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12229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 Avoid Manual Testing, Deployment, Image Building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685830" y="5562600"/>
            <a:ext cx="15662307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12229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 Avoid Repetative Use of Similar Commands and Processes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2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55766" y="3433714"/>
            <a:ext cx="4919637" cy="2611719"/>
            <a:chOff x="0" y="0"/>
            <a:chExt cx="1295707" cy="6878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95707" cy="687860"/>
            </a:xfrm>
            <a:custGeom>
              <a:avLst/>
              <a:gdLst/>
              <a:ahLst/>
              <a:cxnLst/>
              <a:rect l="l" t="t" r="r" b="b"/>
              <a:pathLst>
                <a:path w="1295707" h="687860">
                  <a:moveTo>
                    <a:pt x="0" y="0"/>
                  </a:moveTo>
                  <a:lnTo>
                    <a:pt x="1295707" y="0"/>
                  </a:lnTo>
                  <a:lnTo>
                    <a:pt x="1295707" y="687860"/>
                  </a:lnTo>
                  <a:lnTo>
                    <a:pt x="0" y="687860"/>
                  </a:lnTo>
                  <a:close/>
                </a:path>
              </a:pathLst>
            </a:custGeom>
            <a:solidFill>
              <a:srgbClr val="F6E7D8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19050"/>
              <a:ext cx="1295707" cy="6688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455766" y="6748551"/>
            <a:ext cx="4919637" cy="2611719"/>
            <a:chOff x="0" y="0"/>
            <a:chExt cx="1295707" cy="6878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95707" cy="687860"/>
            </a:xfrm>
            <a:custGeom>
              <a:avLst/>
              <a:gdLst/>
              <a:ahLst/>
              <a:cxnLst/>
              <a:rect l="l" t="t" r="r" b="b"/>
              <a:pathLst>
                <a:path w="1295707" h="687860">
                  <a:moveTo>
                    <a:pt x="0" y="0"/>
                  </a:moveTo>
                  <a:lnTo>
                    <a:pt x="1295707" y="0"/>
                  </a:lnTo>
                  <a:lnTo>
                    <a:pt x="1295707" y="687860"/>
                  </a:lnTo>
                  <a:lnTo>
                    <a:pt x="0" y="687860"/>
                  </a:lnTo>
                  <a:close/>
                </a:path>
              </a:pathLst>
            </a:custGeom>
            <a:solidFill>
              <a:srgbClr val="F6E7D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19050"/>
              <a:ext cx="1295707" cy="6688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5891585" y="777404"/>
            <a:ext cx="11253836" cy="8582866"/>
          </a:xfrm>
          <a:custGeom>
            <a:avLst/>
            <a:gdLst/>
            <a:ahLst/>
            <a:cxnLst/>
            <a:rect l="l" t="t" r="r" b="b"/>
            <a:pathLst>
              <a:path w="11253836" h="8582866">
                <a:moveTo>
                  <a:pt x="0" y="0"/>
                </a:moveTo>
                <a:lnTo>
                  <a:pt x="11253836" y="0"/>
                </a:lnTo>
                <a:lnTo>
                  <a:pt x="11253836" y="8582866"/>
                </a:lnTo>
                <a:lnTo>
                  <a:pt x="0" y="85828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858306" y="8025836"/>
            <a:ext cx="3634562" cy="647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660"/>
              </a:lnSpc>
              <a:spcBef>
                <a:spcPct val="0"/>
              </a:spcBef>
            </a:pPr>
            <a:r>
              <a:rPr lang="en-US" sz="1900" spc="-38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All the Pipeline stages are mentioned in Jenkins.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58306" y="6962672"/>
            <a:ext cx="3752443" cy="662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500"/>
              </a:lnSpc>
            </a:pPr>
            <a:r>
              <a:rPr lang="en-US" sz="3600" b="1" spc="72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JENKINS HANDLES EVERYTHING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58306" y="611973"/>
            <a:ext cx="6385633" cy="273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24"/>
              </a:lnSpc>
              <a:spcBef>
                <a:spcPct val="0"/>
              </a:spcBef>
            </a:pPr>
            <a:r>
              <a:rPr lang="en-US" sz="10356" b="1" spc="-165">
                <a:solidFill>
                  <a:srgbClr val="F6E7D8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High Level Architecture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614412" y="786092"/>
            <a:ext cx="10633401" cy="2077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740"/>
              </a:lnSpc>
            </a:pPr>
            <a:r>
              <a:rPr lang="en-US" sz="14000" b="1" spc="-224">
                <a:solidFill>
                  <a:srgbClr val="12229D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Pipeline Overview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614412" y="3456867"/>
            <a:ext cx="12913958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Code Quality Analysis with SonarQube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614412" y="4526350"/>
            <a:ext cx="12913958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 dirty="0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Vulnerability Scanning using </a:t>
            </a:r>
            <a:r>
              <a:rPr lang="en-US" sz="5199" b="1" dirty="0" err="1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Trivy</a:t>
            </a:r>
            <a:r>
              <a:rPr lang="en-US" sz="5199" b="1" dirty="0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614412" y="5595833"/>
            <a:ext cx="12913958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Building Docker image using Docker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14412" y="7731973"/>
            <a:ext cx="12913958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 dirty="0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Deployment On Kubernetes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14412" y="6663903"/>
            <a:ext cx="15156650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 dirty="0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Docker Image is Pushed to Docker Hub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14412" y="8767127"/>
            <a:ext cx="14620354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 dirty="0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Monitoring Using Prometheus and Grafana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B9CA66-7AF6-DF98-C2A3-37D88F0F80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111" y="35787"/>
            <a:ext cx="17777777" cy="102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662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2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309888" y="2387018"/>
            <a:ext cx="4919637" cy="7024344"/>
            <a:chOff x="0" y="0"/>
            <a:chExt cx="1295707" cy="18500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95707" cy="1850033"/>
            </a:xfrm>
            <a:custGeom>
              <a:avLst/>
              <a:gdLst/>
              <a:ahLst/>
              <a:cxnLst/>
              <a:rect l="l" t="t" r="r" b="b"/>
              <a:pathLst>
                <a:path w="1295707" h="1850033">
                  <a:moveTo>
                    <a:pt x="0" y="0"/>
                  </a:moveTo>
                  <a:lnTo>
                    <a:pt x="1295707" y="0"/>
                  </a:lnTo>
                  <a:lnTo>
                    <a:pt x="1295707" y="1850033"/>
                  </a:lnTo>
                  <a:lnTo>
                    <a:pt x="0" y="1850033"/>
                  </a:lnTo>
                  <a:close/>
                </a:path>
              </a:pathLst>
            </a:custGeom>
            <a:solidFill>
              <a:srgbClr val="F6E7D8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19050"/>
              <a:ext cx="1295707" cy="18309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324775" y="2387018"/>
            <a:ext cx="4919637" cy="7024344"/>
            <a:chOff x="0" y="0"/>
            <a:chExt cx="1295707" cy="18500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95707" cy="1850033"/>
            </a:xfrm>
            <a:custGeom>
              <a:avLst/>
              <a:gdLst/>
              <a:ahLst/>
              <a:cxnLst/>
              <a:rect l="l" t="t" r="r" b="b"/>
              <a:pathLst>
                <a:path w="1295707" h="1850033">
                  <a:moveTo>
                    <a:pt x="0" y="0"/>
                  </a:moveTo>
                  <a:lnTo>
                    <a:pt x="1295707" y="0"/>
                  </a:lnTo>
                  <a:lnTo>
                    <a:pt x="1295707" y="1850033"/>
                  </a:lnTo>
                  <a:lnTo>
                    <a:pt x="0" y="1850033"/>
                  </a:lnTo>
                  <a:close/>
                </a:path>
              </a:pathLst>
            </a:custGeom>
            <a:solidFill>
              <a:srgbClr val="F6E7D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19050"/>
              <a:ext cx="1295707" cy="18309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415269" y="2387018"/>
            <a:ext cx="4919637" cy="7024344"/>
            <a:chOff x="0" y="0"/>
            <a:chExt cx="1295707" cy="185003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95707" cy="1850033"/>
            </a:xfrm>
            <a:custGeom>
              <a:avLst/>
              <a:gdLst/>
              <a:ahLst/>
              <a:cxnLst/>
              <a:rect l="l" t="t" r="r" b="b"/>
              <a:pathLst>
                <a:path w="1295707" h="1850033">
                  <a:moveTo>
                    <a:pt x="0" y="0"/>
                  </a:moveTo>
                  <a:lnTo>
                    <a:pt x="1295707" y="0"/>
                  </a:lnTo>
                  <a:lnTo>
                    <a:pt x="1295707" y="1850033"/>
                  </a:lnTo>
                  <a:lnTo>
                    <a:pt x="0" y="1850033"/>
                  </a:lnTo>
                  <a:close/>
                </a:path>
              </a:pathLst>
            </a:custGeom>
            <a:solidFill>
              <a:srgbClr val="F6E7D8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19050"/>
              <a:ext cx="1295707" cy="18309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893485" y="7165022"/>
            <a:ext cx="3903655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40"/>
              </a:lnSpc>
              <a:spcBef>
                <a:spcPct val="0"/>
              </a:spcBef>
            </a:pPr>
            <a:r>
              <a:rPr lang="en-US" sz="2100" spc="-42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Code was maintained on Github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908373" y="7165022"/>
            <a:ext cx="3903655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40"/>
              </a:lnSpc>
              <a:spcBef>
                <a:spcPct val="0"/>
              </a:spcBef>
            </a:pPr>
            <a:r>
              <a:rPr lang="en-US" sz="2100" spc="-42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Seperate Branches for Each Member was ensured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923260" y="7165022"/>
            <a:ext cx="3903655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40"/>
              </a:lnSpc>
              <a:spcBef>
                <a:spcPct val="0"/>
              </a:spcBef>
            </a:pPr>
            <a:r>
              <a:rPr lang="en-US" sz="2100" spc="-42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Poll SCM was used to detect new commit.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893485" y="4676380"/>
            <a:ext cx="3752443" cy="228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31"/>
              </a:lnSpc>
            </a:pPr>
            <a:r>
              <a:rPr lang="en-US" sz="8799" b="1" spc="175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GIT &amp; GITHUB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908373" y="5666980"/>
            <a:ext cx="3752443" cy="12894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31"/>
              </a:lnSpc>
            </a:pPr>
            <a:r>
              <a:rPr lang="en-US" sz="8799" b="1" spc="175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BRANCHING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923260" y="4676380"/>
            <a:ext cx="3752443" cy="228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31"/>
              </a:lnSpc>
            </a:pPr>
            <a:r>
              <a:rPr lang="en-US" sz="8799" b="1" spc="175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CODE TRIGGER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893485" y="2427794"/>
            <a:ext cx="966714" cy="1149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7999"/>
              </a:lnSpc>
              <a:spcBef>
                <a:spcPct val="0"/>
              </a:spcBef>
            </a:pPr>
            <a:r>
              <a:rPr lang="en-US" sz="6399" b="1" u="none" strike="noStrike" spc="127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01.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908373" y="2427794"/>
            <a:ext cx="966714" cy="1149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7999"/>
              </a:lnSpc>
              <a:spcBef>
                <a:spcPct val="0"/>
              </a:spcBef>
            </a:pPr>
            <a:r>
              <a:rPr lang="en-US" sz="6399" b="1" u="none" strike="noStrike" spc="127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02.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923260" y="2427794"/>
            <a:ext cx="966714" cy="1149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7999"/>
              </a:lnSpc>
              <a:spcBef>
                <a:spcPct val="0"/>
              </a:spcBef>
            </a:pPr>
            <a:r>
              <a:rPr lang="en-US" sz="6399" b="1" u="none" strike="noStrike" spc="127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03.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354251" y="584760"/>
            <a:ext cx="8535723" cy="1545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64"/>
              </a:lnSpc>
              <a:spcBef>
                <a:spcPct val="0"/>
              </a:spcBef>
            </a:pPr>
            <a:r>
              <a:rPr lang="en-US" sz="10400" b="1" spc="-166">
                <a:solidFill>
                  <a:srgbClr val="F6E7D8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Source Code Management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88082" y="493566"/>
            <a:ext cx="15191917" cy="2077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740"/>
              </a:lnSpc>
            </a:pPr>
            <a:r>
              <a:rPr lang="en-US" sz="14000" b="1" spc="-224">
                <a:solidFill>
                  <a:srgbClr val="12229D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Contenerization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2969325"/>
            <a:ext cx="16230600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 dirty="0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Images build with docker-</a:t>
            </a:r>
            <a:r>
              <a:rPr lang="en-US" sz="5199" b="1" dirty="0" err="1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compose.yaml</a:t>
            </a:r>
            <a:r>
              <a:rPr lang="en-US" sz="5199" b="1" dirty="0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defined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4256405"/>
            <a:ext cx="15205405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Jenkins trigger the docker compose command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5543550"/>
            <a:ext cx="15205405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Images are getting pushed to dockerhub after successfull build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7754620"/>
            <a:ext cx="15205405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Each docker image is given a unique number which is consecutive in nature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2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125382" y="1331395"/>
            <a:ext cx="6834112" cy="3736330"/>
            <a:chOff x="0" y="0"/>
            <a:chExt cx="1799931" cy="98405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99931" cy="984054"/>
            </a:xfrm>
            <a:custGeom>
              <a:avLst/>
              <a:gdLst/>
              <a:ahLst/>
              <a:cxnLst/>
              <a:rect l="l" t="t" r="r" b="b"/>
              <a:pathLst>
                <a:path w="1799931" h="984054">
                  <a:moveTo>
                    <a:pt x="0" y="0"/>
                  </a:moveTo>
                  <a:lnTo>
                    <a:pt x="1799931" y="0"/>
                  </a:lnTo>
                  <a:lnTo>
                    <a:pt x="1799931" y="984054"/>
                  </a:lnTo>
                  <a:lnTo>
                    <a:pt x="0" y="984054"/>
                  </a:lnTo>
                  <a:close/>
                </a:path>
              </a:pathLst>
            </a:custGeom>
            <a:solidFill>
              <a:srgbClr val="F6E7D8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19050"/>
              <a:ext cx="1799931" cy="9650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125382" y="5219276"/>
            <a:ext cx="6834112" cy="3736330"/>
            <a:chOff x="0" y="0"/>
            <a:chExt cx="1799931" cy="98405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799931" cy="984054"/>
            </a:xfrm>
            <a:custGeom>
              <a:avLst/>
              <a:gdLst/>
              <a:ahLst/>
              <a:cxnLst/>
              <a:rect l="l" t="t" r="r" b="b"/>
              <a:pathLst>
                <a:path w="1799931" h="984054">
                  <a:moveTo>
                    <a:pt x="0" y="0"/>
                  </a:moveTo>
                  <a:lnTo>
                    <a:pt x="1799931" y="0"/>
                  </a:lnTo>
                  <a:lnTo>
                    <a:pt x="1799931" y="984054"/>
                  </a:lnTo>
                  <a:lnTo>
                    <a:pt x="0" y="984054"/>
                  </a:lnTo>
                  <a:close/>
                </a:path>
              </a:pathLst>
            </a:custGeom>
            <a:solidFill>
              <a:srgbClr val="F6E7D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19050"/>
              <a:ext cx="1799931" cy="9650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101245" y="1331395"/>
            <a:ext cx="6834112" cy="3736330"/>
            <a:chOff x="0" y="0"/>
            <a:chExt cx="1799931" cy="98405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799931" cy="984054"/>
            </a:xfrm>
            <a:custGeom>
              <a:avLst/>
              <a:gdLst/>
              <a:ahLst/>
              <a:cxnLst/>
              <a:rect l="l" t="t" r="r" b="b"/>
              <a:pathLst>
                <a:path w="1799931" h="984054">
                  <a:moveTo>
                    <a:pt x="0" y="0"/>
                  </a:moveTo>
                  <a:lnTo>
                    <a:pt x="1799931" y="0"/>
                  </a:lnTo>
                  <a:lnTo>
                    <a:pt x="1799931" y="984054"/>
                  </a:lnTo>
                  <a:lnTo>
                    <a:pt x="0" y="984054"/>
                  </a:lnTo>
                  <a:close/>
                </a:path>
              </a:pathLst>
            </a:custGeom>
            <a:solidFill>
              <a:srgbClr val="F6E7D8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19050"/>
              <a:ext cx="1799931" cy="9650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101245" y="5219276"/>
            <a:ext cx="6834112" cy="3736330"/>
            <a:chOff x="0" y="0"/>
            <a:chExt cx="1799931" cy="98405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799931" cy="984054"/>
            </a:xfrm>
            <a:custGeom>
              <a:avLst/>
              <a:gdLst/>
              <a:ahLst/>
              <a:cxnLst/>
              <a:rect l="l" t="t" r="r" b="b"/>
              <a:pathLst>
                <a:path w="1799931" h="984054">
                  <a:moveTo>
                    <a:pt x="0" y="0"/>
                  </a:moveTo>
                  <a:lnTo>
                    <a:pt x="1799931" y="0"/>
                  </a:lnTo>
                  <a:lnTo>
                    <a:pt x="1799931" y="984054"/>
                  </a:lnTo>
                  <a:lnTo>
                    <a:pt x="0" y="984054"/>
                  </a:lnTo>
                  <a:close/>
                </a:path>
              </a:pathLst>
            </a:custGeom>
            <a:solidFill>
              <a:srgbClr val="F6E7D8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19050"/>
              <a:ext cx="1799931" cy="9650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4623211" y="3002934"/>
            <a:ext cx="4663955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40"/>
              </a:lnSpc>
              <a:spcBef>
                <a:spcPct val="0"/>
              </a:spcBef>
            </a:pPr>
            <a:r>
              <a:rPr lang="en-US" sz="2100" spc="-42" dirty="0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Deployment is getting started to always keep 2 pods running.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623211" y="6890815"/>
            <a:ext cx="4663955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40"/>
              </a:lnSpc>
              <a:spcBef>
                <a:spcPct val="0"/>
              </a:spcBef>
            </a:pPr>
            <a:r>
              <a:rPr lang="en-US" sz="2100" spc="-42" dirty="0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Two </a:t>
            </a:r>
            <a:r>
              <a:rPr lang="en-US" sz="2100" spc="-42" dirty="0" err="1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Replicasets</a:t>
            </a:r>
            <a:r>
              <a:rPr lang="en-US" sz="2100" spc="-42" dirty="0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 of pods are being Created.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99073" y="3002934"/>
            <a:ext cx="4663955" cy="1480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40"/>
              </a:lnSpc>
              <a:spcBef>
                <a:spcPct val="0"/>
              </a:spcBef>
            </a:pPr>
            <a:r>
              <a:rPr lang="en-US" sz="2100" spc="-42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A Service is getting started by jenkins for load balancing between Pods and for single point of connection.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599073" y="7073695"/>
            <a:ext cx="4663955" cy="1108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40"/>
              </a:lnSpc>
              <a:spcBef>
                <a:spcPct val="0"/>
              </a:spcBef>
            </a:pPr>
            <a:r>
              <a:rPr lang="en-US" sz="2100" spc="-42" dirty="0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Two containers are being started in each pod, one for backend and one for frontend.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623211" y="1835016"/>
            <a:ext cx="4663955" cy="9282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95"/>
              </a:lnSpc>
            </a:pPr>
            <a:r>
              <a:rPr lang="en-US" sz="6399" b="1" spc="127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DEPLOYMENT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623211" y="5722897"/>
            <a:ext cx="4663955" cy="9282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95"/>
              </a:lnSpc>
            </a:pPr>
            <a:r>
              <a:rPr lang="en-US" sz="6399" b="1" spc="127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REPLICASETS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599073" y="1835016"/>
            <a:ext cx="4663955" cy="9282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95"/>
              </a:lnSpc>
            </a:pPr>
            <a:r>
              <a:rPr lang="en-US" sz="6399" b="1" spc="127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SERVICE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599073" y="5722897"/>
            <a:ext cx="4663955" cy="9282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95"/>
              </a:lnSpc>
            </a:pPr>
            <a:r>
              <a:rPr lang="en-US" sz="6399" b="1" spc="127" dirty="0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POD IMPLEMENTATION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656497" y="1615941"/>
            <a:ext cx="966714" cy="1149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7999"/>
              </a:lnSpc>
              <a:spcBef>
                <a:spcPct val="0"/>
              </a:spcBef>
            </a:pPr>
            <a:r>
              <a:rPr lang="en-US" sz="6399" b="1" u="none" strike="noStrike" spc="127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01.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656497" y="5503822"/>
            <a:ext cx="966714" cy="1149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7999"/>
              </a:lnSpc>
              <a:spcBef>
                <a:spcPct val="0"/>
              </a:spcBef>
            </a:pPr>
            <a:r>
              <a:rPr lang="en-US" sz="6399" b="1" u="none" strike="noStrike" spc="127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03.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632359" y="1615941"/>
            <a:ext cx="966714" cy="1149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7999"/>
              </a:lnSpc>
              <a:spcBef>
                <a:spcPct val="0"/>
              </a:spcBef>
            </a:pPr>
            <a:r>
              <a:rPr lang="en-US" sz="6399" b="1" u="none" strike="noStrike" spc="127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02.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632359" y="5503822"/>
            <a:ext cx="966714" cy="1149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just">
              <a:lnSpc>
                <a:spcPts val="7999"/>
              </a:lnSpc>
              <a:spcBef>
                <a:spcPct val="0"/>
              </a:spcBef>
            </a:pPr>
            <a:r>
              <a:rPr lang="en-US" sz="6399" b="1" u="none" strike="noStrike" spc="127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04.</a:t>
            </a:r>
          </a:p>
        </p:txBody>
      </p:sp>
      <p:sp>
        <p:nvSpPr>
          <p:cNvPr id="26" name="TextBox 26"/>
          <p:cNvSpPr txBox="1"/>
          <p:nvPr/>
        </p:nvSpPr>
        <p:spPr>
          <a:xfrm rot="-5400000">
            <a:off x="-1648821" y="4370959"/>
            <a:ext cx="7624211" cy="1545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64"/>
              </a:lnSpc>
              <a:spcBef>
                <a:spcPct val="0"/>
              </a:spcBef>
            </a:pPr>
            <a:r>
              <a:rPr lang="en-US" sz="10400" b="1" spc="-166">
                <a:solidFill>
                  <a:srgbClr val="F6E7D8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Deployment Strategy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2226362" y="6368080"/>
            <a:ext cx="13715439" cy="0"/>
          </a:xfrm>
          <a:prstGeom prst="line">
            <a:avLst/>
          </a:prstGeom>
          <a:ln w="38100" cap="flat">
            <a:solidFill>
              <a:srgbClr val="12229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1028700" y="532326"/>
            <a:ext cx="16289022" cy="2077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740"/>
              </a:lnSpc>
              <a:spcBef>
                <a:spcPct val="0"/>
              </a:spcBef>
            </a:pPr>
            <a:r>
              <a:rPr lang="en-US" sz="14000" b="1" spc="-224">
                <a:solidFill>
                  <a:srgbClr val="12229D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Configuration &amp; Secrets Management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226362" y="8070407"/>
            <a:ext cx="5131923" cy="1407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79"/>
              </a:lnSpc>
              <a:spcBef>
                <a:spcPct val="0"/>
              </a:spcBef>
            </a:pPr>
            <a:r>
              <a:rPr lang="en-US" sz="2700" spc="-54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All Enviornment Variables excluding credentials are saved in yaml files of kubernetes.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226362" y="7360030"/>
            <a:ext cx="3746047" cy="603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738"/>
              </a:lnSpc>
              <a:spcBef>
                <a:spcPct val="0"/>
              </a:spcBef>
            </a:pPr>
            <a:r>
              <a:rPr lang="en-US" sz="4200" b="1" spc="84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ENVIORNMENT VARIABLES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847670" y="3733997"/>
            <a:ext cx="2873585" cy="486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738"/>
              </a:lnSpc>
              <a:spcBef>
                <a:spcPct val="0"/>
              </a:spcBef>
            </a:pPr>
            <a:r>
              <a:rPr lang="en-US" sz="4200" b="1" spc="84" dirty="0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SECRET HANDLING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465985" y="7360030"/>
            <a:ext cx="3352751" cy="603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738"/>
              </a:lnSpc>
              <a:spcBef>
                <a:spcPct val="0"/>
              </a:spcBef>
            </a:pPr>
            <a:r>
              <a:rPr lang="en-US" sz="4200" b="1" spc="84">
                <a:solidFill>
                  <a:srgbClr val="1C191A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HARDCODING AVOIDED</a:t>
            </a:r>
          </a:p>
        </p:txBody>
      </p:sp>
      <p:sp>
        <p:nvSpPr>
          <p:cNvPr id="9" name="AutoShape 9"/>
          <p:cNvSpPr/>
          <p:nvPr/>
        </p:nvSpPr>
        <p:spPr>
          <a:xfrm>
            <a:off x="2229354" y="6368080"/>
            <a:ext cx="0" cy="657493"/>
          </a:xfrm>
          <a:prstGeom prst="line">
            <a:avLst/>
          </a:prstGeom>
          <a:ln w="38100" cap="flat">
            <a:solidFill>
              <a:srgbClr val="12229D"/>
            </a:solidFill>
            <a:prstDash val="sysDash"/>
            <a:headEnd type="none" w="sm" len="sm"/>
            <a:tailEnd type="none" w="sm" len="sm"/>
          </a:ln>
        </p:spPr>
      </p:sp>
      <p:sp>
        <p:nvSpPr>
          <p:cNvPr id="10" name="AutoShape 10"/>
          <p:cNvSpPr/>
          <p:nvPr/>
        </p:nvSpPr>
        <p:spPr>
          <a:xfrm>
            <a:off x="9465985" y="6368080"/>
            <a:ext cx="0" cy="657493"/>
          </a:xfrm>
          <a:prstGeom prst="line">
            <a:avLst/>
          </a:prstGeom>
          <a:ln w="38100" cap="flat">
            <a:solidFill>
              <a:srgbClr val="12229D"/>
            </a:solidFill>
            <a:prstDash val="sysDash"/>
            <a:headEnd type="none" w="sm" len="sm"/>
            <a:tailEnd type="none" w="sm" len="sm"/>
          </a:ln>
        </p:spPr>
      </p:sp>
      <p:sp>
        <p:nvSpPr>
          <p:cNvPr id="11" name="AutoShape 11"/>
          <p:cNvSpPr/>
          <p:nvPr/>
        </p:nvSpPr>
        <p:spPr>
          <a:xfrm>
            <a:off x="5847670" y="5710587"/>
            <a:ext cx="0" cy="657493"/>
          </a:xfrm>
          <a:prstGeom prst="line">
            <a:avLst/>
          </a:prstGeom>
          <a:ln w="38100" cap="flat">
            <a:solidFill>
              <a:srgbClr val="12229D"/>
            </a:solidFill>
            <a:prstDash val="sysDash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2104614" y="6243340"/>
            <a:ext cx="249480" cy="24948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6FC"/>
            </a:solidFill>
            <a:ln w="38100" cap="sq">
              <a:solidFill>
                <a:srgbClr val="12229D"/>
              </a:solidFill>
              <a:prstDash val="solid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722930" y="6243340"/>
            <a:ext cx="249480" cy="24948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6FC"/>
            </a:solidFill>
            <a:ln w="38100" cap="sq">
              <a:solidFill>
                <a:srgbClr val="12229D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341245" y="6243340"/>
            <a:ext cx="249480" cy="249480"/>
            <a:chOff x="0" y="0"/>
            <a:chExt cx="812800" cy="8128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6FC"/>
            </a:solidFill>
            <a:ln w="38100" cap="sq">
              <a:solidFill>
                <a:srgbClr val="12229D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5817061" y="6243340"/>
            <a:ext cx="249480" cy="249480"/>
            <a:chOff x="0" y="0"/>
            <a:chExt cx="812800" cy="8128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6FC"/>
            </a:solidFill>
            <a:ln w="38100" cap="sq">
              <a:solidFill>
                <a:srgbClr val="12229D"/>
              </a:solidFill>
              <a:prstDash val="solid"/>
              <a:miter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sp>
        <p:nvSpPr>
          <p:cNvPr id="24" name="AutoShape 24"/>
          <p:cNvSpPr/>
          <p:nvPr/>
        </p:nvSpPr>
        <p:spPr>
          <a:xfrm>
            <a:off x="12943477" y="5710587"/>
            <a:ext cx="0" cy="657493"/>
          </a:xfrm>
          <a:prstGeom prst="line">
            <a:avLst/>
          </a:prstGeom>
          <a:ln w="38100" cap="flat">
            <a:solidFill>
              <a:srgbClr val="12229D"/>
            </a:solidFill>
            <a:prstDash val="sysDash"/>
            <a:headEnd type="none" w="sm" len="sm"/>
            <a:tailEnd type="none" w="sm" len="sm"/>
          </a:ln>
        </p:spPr>
      </p:sp>
      <p:grpSp>
        <p:nvGrpSpPr>
          <p:cNvPr id="25" name="Group 25"/>
          <p:cNvGrpSpPr/>
          <p:nvPr/>
        </p:nvGrpSpPr>
        <p:grpSpPr>
          <a:xfrm>
            <a:off x="12818737" y="6243340"/>
            <a:ext cx="249480" cy="249480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6FC"/>
            </a:solidFill>
            <a:ln w="38100" cap="sq">
              <a:solidFill>
                <a:srgbClr val="12229D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9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5847670" y="4484403"/>
            <a:ext cx="3743056" cy="1217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0"/>
              </a:lnSpc>
              <a:spcBef>
                <a:spcPct val="0"/>
              </a:spcBef>
            </a:pPr>
            <a:r>
              <a:rPr lang="en-US" sz="2300" spc="-46" dirty="0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Credentials of </a:t>
            </a:r>
            <a:r>
              <a:rPr lang="en-US" sz="2300" spc="-46" dirty="0" err="1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Dockerhub</a:t>
            </a:r>
            <a:r>
              <a:rPr lang="en-US" sz="2300" spc="-46" dirty="0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, </a:t>
            </a:r>
            <a:r>
              <a:rPr lang="en-US" sz="2300" spc="-46" dirty="0" err="1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Minikube</a:t>
            </a:r>
            <a:r>
              <a:rPr lang="en-US" sz="2300" spc="-46" dirty="0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 and SonarQube are Saved In </a:t>
            </a:r>
            <a:r>
              <a:rPr lang="en-US" sz="2300" spc="-46" dirty="0" err="1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jenkins</a:t>
            </a:r>
            <a:r>
              <a:rPr lang="en-US" sz="2300" spc="-46" dirty="0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 only.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465985" y="8079932"/>
            <a:ext cx="3021232" cy="1234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60"/>
              </a:lnSpc>
              <a:spcBef>
                <a:spcPct val="0"/>
              </a:spcBef>
            </a:pPr>
            <a:r>
              <a:rPr lang="en-US" sz="2400" spc="-48">
                <a:solidFill>
                  <a:srgbClr val="1C191A"/>
                </a:solidFill>
                <a:latin typeface="Prompt"/>
                <a:ea typeface="Prompt"/>
                <a:cs typeface="Prompt"/>
                <a:sym typeface="Prompt"/>
              </a:rPr>
              <a:t>Hardcoding of credentials is strictly avoided.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2815871" y="5426301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2207591" y="924560"/>
            <a:ext cx="5331359" cy="3687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740"/>
              </a:lnSpc>
            </a:pPr>
            <a:r>
              <a:rPr lang="en-US" sz="14000" b="1" spc="-224">
                <a:solidFill>
                  <a:srgbClr val="12229D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Monitoring &amp; Logging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0524" y="933450"/>
            <a:ext cx="10599492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Prometheus and Grafana are used for Monitoring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30524" y="3113086"/>
            <a:ext cx="10599492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Kubernetes Monitoring Dashboard is Used in Grafana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28511" y="5640024"/>
            <a:ext cx="10599492" cy="181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 dirty="0">
                <a:solidFill>
                  <a:srgbClr val="38B6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CPU &amp; Memory Usage, resource efficiency and Cost Monitoring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61" r="-56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6834569" y="844153"/>
            <a:ext cx="849462" cy="744437"/>
          </a:xfrm>
          <a:custGeom>
            <a:avLst/>
            <a:gdLst/>
            <a:ahLst/>
            <a:cxnLst/>
            <a:rect l="l" t="t" r="r" b="b"/>
            <a:pathLst>
              <a:path w="849462" h="744437">
                <a:moveTo>
                  <a:pt x="0" y="0"/>
                </a:moveTo>
                <a:lnTo>
                  <a:pt x="849462" y="0"/>
                </a:lnTo>
                <a:lnTo>
                  <a:pt x="849462" y="744438"/>
                </a:lnTo>
                <a:lnTo>
                  <a:pt x="0" y="74443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417382" y="744182"/>
            <a:ext cx="7968376" cy="2077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740"/>
              </a:lnSpc>
            </a:pPr>
            <a:r>
              <a:rPr lang="en-US" sz="14000" b="1" spc="-224">
                <a:solidFill>
                  <a:srgbClr val="FDFDFD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Challenges Faced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955276" y="3087117"/>
            <a:ext cx="14006225" cy="573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619"/>
              </a:lnSpc>
            </a:pPr>
            <a:r>
              <a:rPr lang="en-US" sz="3299" spc="-65">
                <a:solidFill>
                  <a:srgbClr val="FDFDFD"/>
                </a:solidFill>
                <a:latin typeface="Prompt"/>
                <a:ea typeface="Prompt"/>
                <a:cs typeface="Prompt"/>
                <a:sym typeface="Prompt"/>
              </a:rPr>
              <a:t>Frontend and Backend was giving problems in Starting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955276" y="4528185"/>
            <a:ext cx="14006225" cy="2929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619"/>
              </a:lnSpc>
            </a:pPr>
            <a:r>
              <a:rPr lang="en-US" sz="3299" spc="-65" dirty="0">
                <a:solidFill>
                  <a:srgbClr val="FDFDFD"/>
                </a:solidFill>
                <a:latin typeface="Prompt"/>
                <a:ea typeface="Prompt"/>
                <a:cs typeface="Prompt"/>
                <a:sym typeface="Prompt"/>
              </a:rPr>
              <a:t>Prometheus and Grafana was starting on Private IP, it was not accessible outside the VM, </a:t>
            </a:r>
            <a:r>
              <a:rPr lang="en-US" sz="3299" spc="-65" dirty="0" err="1">
                <a:solidFill>
                  <a:srgbClr val="FDFDFD"/>
                </a:solidFill>
                <a:latin typeface="Prompt"/>
                <a:ea typeface="Prompt"/>
                <a:cs typeface="Prompt"/>
                <a:sym typeface="Prompt"/>
              </a:rPr>
              <a:t>implimented</a:t>
            </a:r>
            <a:r>
              <a:rPr lang="en-US" sz="3299" spc="-65" dirty="0">
                <a:solidFill>
                  <a:srgbClr val="FDFDFD"/>
                </a:solidFill>
                <a:latin typeface="Prompt"/>
                <a:ea typeface="Prompt"/>
                <a:cs typeface="Prompt"/>
                <a:sym typeface="Prompt"/>
              </a:rPr>
              <a:t> reverse proxy to expose it on internet</a:t>
            </a:r>
          </a:p>
          <a:p>
            <a:pPr marL="0" lvl="0" indent="0" algn="l">
              <a:lnSpc>
                <a:spcPts val="4619"/>
              </a:lnSpc>
            </a:pPr>
            <a:endParaRPr lang="en-US" sz="3299" spc="-65" dirty="0">
              <a:solidFill>
                <a:srgbClr val="FDFDFD"/>
              </a:solidFill>
              <a:latin typeface="Prompt"/>
              <a:ea typeface="Prompt"/>
              <a:cs typeface="Prompt"/>
              <a:sym typeface="Prompt"/>
            </a:endParaRPr>
          </a:p>
          <a:p>
            <a:pPr marL="0" lvl="0" indent="0" algn="l">
              <a:lnSpc>
                <a:spcPts val="4619"/>
              </a:lnSpc>
            </a:pPr>
            <a:endParaRPr lang="en-US" sz="3299" spc="-65" dirty="0">
              <a:solidFill>
                <a:srgbClr val="FDFDFD"/>
              </a:solidFill>
              <a:latin typeface="Prompt"/>
              <a:ea typeface="Prompt"/>
              <a:cs typeface="Prompt"/>
              <a:sym typeface="Prompt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955276" y="6148280"/>
            <a:ext cx="14006225" cy="1749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619"/>
              </a:lnSpc>
            </a:pPr>
            <a:endParaRPr lang="en-US" sz="3299" spc="-65" dirty="0">
              <a:solidFill>
                <a:srgbClr val="FDFDFD"/>
              </a:solidFill>
              <a:latin typeface="Prompt"/>
              <a:ea typeface="Prompt"/>
              <a:cs typeface="Prompt"/>
              <a:sym typeface="Prompt"/>
            </a:endParaRPr>
          </a:p>
          <a:p>
            <a:pPr marL="0" lvl="0" indent="0" algn="l">
              <a:lnSpc>
                <a:spcPts val="4619"/>
              </a:lnSpc>
            </a:pPr>
            <a:r>
              <a:rPr lang="en-US" sz="3299" spc="-65" dirty="0">
                <a:solidFill>
                  <a:srgbClr val="FDFDFD"/>
                </a:solidFill>
                <a:latin typeface="Prompt"/>
                <a:ea typeface="Prompt"/>
                <a:cs typeface="Prompt"/>
                <a:sym typeface="Prompt"/>
              </a:rPr>
              <a:t>SonarQube was failing and not allowing the pipeline to proceed due to bad, code quality, handled it </a:t>
            </a:r>
            <a:r>
              <a:rPr lang="en-US" sz="3299" spc="-65" dirty="0" err="1">
                <a:solidFill>
                  <a:srgbClr val="FDFDFD"/>
                </a:solidFill>
                <a:latin typeface="Prompt"/>
                <a:ea typeface="Prompt"/>
                <a:cs typeface="Prompt"/>
                <a:sym typeface="Prompt"/>
              </a:rPr>
              <a:t>lateron</a:t>
            </a:r>
            <a:r>
              <a:rPr lang="en-US" sz="3299" spc="-65" dirty="0">
                <a:solidFill>
                  <a:srgbClr val="FDFDFD"/>
                </a:solidFill>
                <a:latin typeface="Prompt"/>
                <a:ea typeface="Prompt"/>
                <a:cs typeface="Prompt"/>
                <a:sym typeface="Prompt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2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9886" y="1872490"/>
            <a:ext cx="15488229" cy="5621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0189"/>
              </a:lnSpc>
              <a:spcBef>
                <a:spcPct val="0"/>
              </a:spcBef>
            </a:pPr>
            <a:r>
              <a:rPr lang="en-US" sz="28707" b="1">
                <a:solidFill>
                  <a:srgbClr val="F4F6FC"/>
                </a:solidFill>
                <a:latin typeface="Heading Now 31-38 Bold"/>
                <a:ea typeface="Heading Now 31-38 Bold"/>
                <a:cs typeface="Heading Now 31-38 Bold"/>
                <a:sym typeface="Heading Now 31-38 Bold"/>
              </a:rPr>
              <a:t>THANK YOU</a:t>
            </a:r>
          </a:p>
        </p:txBody>
      </p:sp>
      <p:sp>
        <p:nvSpPr>
          <p:cNvPr id="3" name="AutoShape 3"/>
          <p:cNvSpPr/>
          <p:nvPr/>
        </p:nvSpPr>
        <p:spPr>
          <a:xfrm>
            <a:off x="3033434" y="7501225"/>
            <a:ext cx="12221131" cy="0"/>
          </a:xfrm>
          <a:prstGeom prst="line">
            <a:avLst/>
          </a:prstGeom>
          <a:ln w="38100" cap="flat">
            <a:solidFill>
              <a:srgbClr val="F4F6FC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8119823" y="8407149"/>
            <a:ext cx="7134743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355"/>
              </a:lnSpc>
            </a:pPr>
            <a:r>
              <a:rPr lang="en-US" sz="2796">
                <a:solidFill>
                  <a:srgbClr val="F4F6FC"/>
                </a:solidFill>
                <a:latin typeface="Prompt"/>
                <a:ea typeface="Prompt"/>
                <a:cs typeface="Prompt"/>
                <a:sym typeface="Prompt"/>
              </a:rPr>
              <a:t>31 January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357</Words>
  <Application>Microsoft Office PowerPoint</Application>
  <PresentationFormat>Custom</PresentationFormat>
  <Paragraphs>66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Calibri</vt:lpstr>
      <vt:lpstr>Arial</vt:lpstr>
      <vt:lpstr>Prompt Light</vt:lpstr>
      <vt:lpstr>Prompt</vt:lpstr>
      <vt:lpstr>Canva Sans Bold</vt:lpstr>
      <vt:lpstr>Heading Now 31-38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Borcelle church</dc:title>
  <dc:creator>hp</dc:creator>
  <cp:lastModifiedBy>Somya Jain</cp:lastModifiedBy>
  <cp:revision>4</cp:revision>
  <dcterms:created xsi:type="dcterms:W3CDTF">2006-08-16T00:00:00Z</dcterms:created>
  <dcterms:modified xsi:type="dcterms:W3CDTF">2026-01-31T04:45:03Z</dcterms:modified>
  <dc:identifier>DAG_57aweHU</dc:identifier>
</cp:coreProperties>
</file>