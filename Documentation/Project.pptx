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6" r:id="rId12"/>
    <p:sldId id="267" r:id="rId13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  <p:embeddedFont>
      <p:font typeface="Heading Now 31-38 Bold" panose="020B0604020202020204" charset="0"/>
      <p:regular r:id="rId15"/>
    </p:embeddedFont>
    <p:embeddedFont>
      <p:font typeface="Prompt" panose="020B0502040204020203" pitchFamily="2" charset="-34"/>
      <p:regular r:id="rId16"/>
    </p:embeddedFont>
    <p:embeddedFont>
      <p:font typeface="Prompt Light" panose="020B0502040204020203" pitchFamily="2" charset="-3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76168" y="1430890"/>
            <a:ext cx="13135661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5000" b="1" dirty="0">
                <a:solidFill>
                  <a:srgbClr val="1222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DevSecOps Pipeline for AWS Infrastructure</a:t>
            </a:r>
          </a:p>
        </p:txBody>
      </p:sp>
      <p:sp>
        <p:nvSpPr>
          <p:cNvPr id="4" name="AutoShape 4"/>
          <p:cNvSpPr/>
          <p:nvPr/>
        </p:nvSpPr>
        <p:spPr>
          <a:xfrm>
            <a:off x="3033434" y="8549440"/>
            <a:ext cx="12221131" cy="0"/>
          </a:xfrm>
          <a:prstGeom prst="line">
            <a:avLst/>
          </a:prstGeom>
          <a:ln w="38100" cap="flat">
            <a:solidFill>
              <a:srgbClr val="0000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7259300" y="511855"/>
            <a:ext cx="398139" cy="873113"/>
          </a:xfrm>
          <a:custGeom>
            <a:avLst/>
            <a:gdLst/>
            <a:ahLst/>
            <a:cxnLst/>
            <a:rect l="l" t="t" r="r" b="b"/>
            <a:pathLst>
              <a:path w="398139" h="873113">
                <a:moveTo>
                  <a:pt x="0" y="0"/>
                </a:moveTo>
                <a:lnTo>
                  <a:pt x="398139" y="0"/>
                </a:lnTo>
                <a:lnTo>
                  <a:pt x="398139" y="873112"/>
                </a:lnTo>
                <a:lnTo>
                  <a:pt x="0" y="87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40418" y="407080"/>
            <a:ext cx="14506417" cy="88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3"/>
              </a:lnSpc>
              <a:spcBef>
                <a:spcPct val="0"/>
              </a:spcBef>
            </a:pPr>
            <a:r>
              <a:rPr lang="en-US" sz="5195" spc="1283" dirty="0">
                <a:solidFill>
                  <a:srgbClr val="00004D"/>
                </a:solidFill>
                <a:latin typeface="Prompt"/>
                <a:ea typeface="Prompt"/>
                <a:cs typeface="Prompt"/>
                <a:sym typeface="Prompt"/>
              </a:rPr>
              <a:t>PROJECT TITLE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28451" y="3591388"/>
            <a:ext cx="5301846" cy="440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85"/>
              </a:lnSpc>
              <a:spcBef>
                <a:spcPct val="0"/>
              </a:spcBef>
            </a:pPr>
            <a:r>
              <a:rPr lang="en-US" sz="6061" b="1" u="none" strike="noStrike" dirty="0">
                <a:solidFill>
                  <a:srgbClr val="00004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Aryan </a:t>
            </a:r>
            <a:r>
              <a:rPr lang="en-US" sz="6061" b="1" u="none" strike="noStrike" dirty="0" err="1">
                <a:solidFill>
                  <a:srgbClr val="00004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Bamne</a:t>
            </a:r>
            <a:endParaRPr lang="en-US" sz="6061" b="1" u="none" strike="noStrike" dirty="0">
              <a:solidFill>
                <a:srgbClr val="00004D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  <a:p>
            <a:pPr marL="0" lvl="0" indent="0" algn="l">
              <a:lnSpc>
                <a:spcPts val="8485"/>
              </a:lnSpc>
              <a:spcBef>
                <a:spcPct val="0"/>
              </a:spcBef>
            </a:pPr>
            <a:r>
              <a:rPr lang="en-US" sz="6061" b="1" u="none" strike="noStrike" dirty="0">
                <a:solidFill>
                  <a:srgbClr val="00004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Souvik Kumar Pramanik</a:t>
            </a:r>
          </a:p>
          <a:p>
            <a:pPr marL="0" lvl="0" indent="0" algn="l">
              <a:lnSpc>
                <a:spcPts val="8485"/>
              </a:lnSpc>
              <a:spcBef>
                <a:spcPct val="0"/>
              </a:spcBef>
            </a:pPr>
            <a:r>
              <a:rPr lang="en-US" sz="6061" b="1" u="none" strike="noStrike" dirty="0">
                <a:solidFill>
                  <a:srgbClr val="00004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Somya Jain </a:t>
            </a:r>
          </a:p>
          <a:p>
            <a:pPr marL="0" lvl="0" indent="0" algn="l">
              <a:lnSpc>
                <a:spcPts val="8485"/>
              </a:lnSpc>
              <a:spcBef>
                <a:spcPct val="0"/>
              </a:spcBef>
            </a:pPr>
            <a:r>
              <a:rPr lang="en-US" sz="6061" b="1" u="none" strike="noStrike" dirty="0">
                <a:solidFill>
                  <a:srgbClr val="00004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Chirayu Humar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19823" y="9420786"/>
            <a:ext cx="7134743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5"/>
              </a:lnSpc>
              <a:spcBef>
                <a:spcPct val="0"/>
              </a:spcBef>
            </a:pPr>
            <a:r>
              <a:rPr lang="en-US" sz="2796" spc="-55">
                <a:solidFill>
                  <a:srgbClr val="00004D"/>
                </a:solidFill>
                <a:latin typeface="Prompt Light"/>
                <a:ea typeface="Prompt Light"/>
                <a:cs typeface="Prompt Light"/>
                <a:sym typeface="Prompt Light"/>
              </a:rPr>
              <a:t>31 January</a:t>
            </a:r>
            <a:r>
              <a:rPr lang="en-US" sz="2796" u="none" strike="noStrike" spc="-55">
                <a:solidFill>
                  <a:srgbClr val="00004D"/>
                </a:solidFill>
                <a:latin typeface="Prompt Light"/>
                <a:ea typeface="Prompt Light"/>
                <a:cs typeface="Prompt Light"/>
                <a:sym typeface="Prompt Light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31059" y="875922"/>
            <a:ext cx="12920704" cy="20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96"/>
              </a:lnSpc>
            </a:pPr>
            <a:r>
              <a:rPr lang="en-US" sz="14400" b="1">
                <a:solidFill>
                  <a:srgbClr val="1222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NEED FOR PIPELINE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4666" y="3332480"/>
            <a:ext cx="15484634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1222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Avoid Manual Testing, Deployment, Image Building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5830" y="5562600"/>
            <a:ext cx="15662307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1222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Avoid Repetative Use of Similar Commands and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5766" y="3433714"/>
            <a:ext cx="4919637" cy="2611719"/>
            <a:chOff x="0" y="0"/>
            <a:chExt cx="1295707" cy="687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5707" cy="687860"/>
            </a:xfrm>
            <a:custGeom>
              <a:avLst/>
              <a:gdLst/>
              <a:ahLst/>
              <a:cxnLst/>
              <a:rect l="l" t="t" r="r" b="b"/>
              <a:pathLst>
                <a:path w="1295707" h="687860">
                  <a:moveTo>
                    <a:pt x="0" y="0"/>
                  </a:moveTo>
                  <a:lnTo>
                    <a:pt x="1295707" y="0"/>
                  </a:lnTo>
                  <a:lnTo>
                    <a:pt x="1295707" y="687860"/>
                  </a:lnTo>
                  <a:lnTo>
                    <a:pt x="0" y="687860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295707" cy="668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5766" y="6748551"/>
            <a:ext cx="4919637" cy="2611719"/>
            <a:chOff x="0" y="0"/>
            <a:chExt cx="1295707" cy="6878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5707" cy="687860"/>
            </a:xfrm>
            <a:custGeom>
              <a:avLst/>
              <a:gdLst/>
              <a:ahLst/>
              <a:cxnLst/>
              <a:rect l="l" t="t" r="r" b="b"/>
              <a:pathLst>
                <a:path w="1295707" h="687860">
                  <a:moveTo>
                    <a:pt x="0" y="0"/>
                  </a:moveTo>
                  <a:lnTo>
                    <a:pt x="1295707" y="0"/>
                  </a:lnTo>
                  <a:lnTo>
                    <a:pt x="1295707" y="687860"/>
                  </a:lnTo>
                  <a:lnTo>
                    <a:pt x="0" y="687860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295707" cy="668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891585" y="777404"/>
            <a:ext cx="11253836" cy="8582866"/>
          </a:xfrm>
          <a:custGeom>
            <a:avLst/>
            <a:gdLst/>
            <a:ahLst/>
            <a:cxnLst/>
            <a:rect l="l" t="t" r="r" b="b"/>
            <a:pathLst>
              <a:path w="11253836" h="8582866">
                <a:moveTo>
                  <a:pt x="0" y="0"/>
                </a:moveTo>
                <a:lnTo>
                  <a:pt x="11253836" y="0"/>
                </a:lnTo>
                <a:lnTo>
                  <a:pt x="11253836" y="8582866"/>
                </a:lnTo>
                <a:lnTo>
                  <a:pt x="0" y="8582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58306" y="8025836"/>
            <a:ext cx="3634562" cy="647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spc="-38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All the Pipeline stages are mentioned in Jenkins.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8306" y="6962672"/>
            <a:ext cx="3752443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3600" b="1" spc="72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JENKINS HANDLES EVERYTHING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8306" y="611973"/>
            <a:ext cx="6385633" cy="273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24"/>
              </a:lnSpc>
              <a:spcBef>
                <a:spcPct val="0"/>
              </a:spcBef>
            </a:pPr>
            <a:r>
              <a:rPr lang="en-US" sz="10356" b="1" spc="-165">
                <a:solidFill>
                  <a:srgbClr val="F6E7D8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High Level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14412" y="786092"/>
            <a:ext cx="10633401" cy="207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40"/>
              </a:lnSpc>
            </a:pPr>
            <a:r>
              <a:rPr lang="en-US" sz="14000" b="1" spc="-224">
                <a:solidFill>
                  <a:srgbClr val="1222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Pipeline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4412" y="3456867"/>
            <a:ext cx="1291395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Quality Analysis with SonarQube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14412" y="4526350"/>
            <a:ext cx="1291395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Vulnerability Scanning using </a:t>
            </a:r>
            <a:r>
              <a:rPr lang="en-US" sz="5199" b="1" dirty="0" err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Trivy</a:t>
            </a:r>
            <a:r>
              <a:rPr lang="en-US" sz="51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4412" y="5595833"/>
            <a:ext cx="1291395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Building Docker image using Docker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4412" y="7731973"/>
            <a:ext cx="1291395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On Kubernetes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4412" y="6663903"/>
            <a:ext cx="1515665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Docker Image is Pushed to Docker Hub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4412" y="8767127"/>
            <a:ext cx="1462035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Monitoring Using Prometheus and Grafana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B9CA66-7AF6-DF98-C2A3-37D88F0F8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11" y="35787"/>
            <a:ext cx="17777777" cy="10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6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9888" y="2387018"/>
            <a:ext cx="4919637" cy="7024344"/>
            <a:chOff x="0" y="0"/>
            <a:chExt cx="1295707" cy="18500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5707" cy="1850033"/>
            </a:xfrm>
            <a:custGeom>
              <a:avLst/>
              <a:gdLst/>
              <a:ahLst/>
              <a:cxnLst/>
              <a:rect l="l" t="t" r="r" b="b"/>
              <a:pathLst>
                <a:path w="1295707" h="1850033">
                  <a:moveTo>
                    <a:pt x="0" y="0"/>
                  </a:moveTo>
                  <a:lnTo>
                    <a:pt x="1295707" y="0"/>
                  </a:lnTo>
                  <a:lnTo>
                    <a:pt x="1295707" y="1850033"/>
                  </a:lnTo>
                  <a:lnTo>
                    <a:pt x="0" y="1850033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295707" cy="1830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24775" y="2387018"/>
            <a:ext cx="4919637" cy="7024344"/>
            <a:chOff x="0" y="0"/>
            <a:chExt cx="1295707" cy="18500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5707" cy="1850033"/>
            </a:xfrm>
            <a:custGeom>
              <a:avLst/>
              <a:gdLst/>
              <a:ahLst/>
              <a:cxnLst/>
              <a:rect l="l" t="t" r="r" b="b"/>
              <a:pathLst>
                <a:path w="1295707" h="1850033">
                  <a:moveTo>
                    <a:pt x="0" y="0"/>
                  </a:moveTo>
                  <a:lnTo>
                    <a:pt x="1295707" y="0"/>
                  </a:lnTo>
                  <a:lnTo>
                    <a:pt x="1295707" y="1850033"/>
                  </a:lnTo>
                  <a:lnTo>
                    <a:pt x="0" y="1850033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295707" cy="1830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15269" y="2387018"/>
            <a:ext cx="4919637" cy="7024344"/>
            <a:chOff x="0" y="0"/>
            <a:chExt cx="1295707" cy="18500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5707" cy="1850033"/>
            </a:xfrm>
            <a:custGeom>
              <a:avLst/>
              <a:gdLst/>
              <a:ahLst/>
              <a:cxnLst/>
              <a:rect l="l" t="t" r="r" b="b"/>
              <a:pathLst>
                <a:path w="1295707" h="1850033">
                  <a:moveTo>
                    <a:pt x="0" y="0"/>
                  </a:moveTo>
                  <a:lnTo>
                    <a:pt x="1295707" y="0"/>
                  </a:lnTo>
                  <a:lnTo>
                    <a:pt x="1295707" y="1850033"/>
                  </a:lnTo>
                  <a:lnTo>
                    <a:pt x="0" y="1850033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295707" cy="1830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93485" y="7165022"/>
            <a:ext cx="3903655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Code was maintained on Github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08373" y="7165022"/>
            <a:ext cx="3903655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Seperate Branches for Each Member was ensured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3260" y="7165022"/>
            <a:ext cx="3903655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Poll SCM was used to detect new commit.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93485" y="4676380"/>
            <a:ext cx="3752443" cy="228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8799" b="1" spc="175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GIT &amp; GITHUB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08373" y="5666980"/>
            <a:ext cx="3752443" cy="128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8799" b="1" spc="175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BRANCHING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23260" y="4676380"/>
            <a:ext cx="3752443" cy="228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8799" b="1" spc="175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CODE TRIGGER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93485" y="2427794"/>
            <a:ext cx="966714" cy="114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999"/>
              </a:lnSpc>
              <a:spcBef>
                <a:spcPct val="0"/>
              </a:spcBef>
            </a:pPr>
            <a:r>
              <a:rPr lang="en-US" sz="6399" b="1" u="none" strike="noStrike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01.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08373" y="2427794"/>
            <a:ext cx="966714" cy="114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999"/>
              </a:lnSpc>
              <a:spcBef>
                <a:spcPct val="0"/>
              </a:spcBef>
            </a:pPr>
            <a:r>
              <a:rPr lang="en-US" sz="6399" b="1" u="none" strike="noStrike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23260" y="2427794"/>
            <a:ext cx="966714" cy="114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999"/>
              </a:lnSpc>
              <a:spcBef>
                <a:spcPct val="0"/>
              </a:spcBef>
            </a:pPr>
            <a:r>
              <a:rPr lang="en-US" sz="6399" b="1" u="none" strike="noStrike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03.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54251" y="584760"/>
            <a:ext cx="8535723" cy="154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64"/>
              </a:lnSpc>
              <a:spcBef>
                <a:spcPct val="0"/>
              </a:spcBef>
            </a:pPr>
            <a:r>
              <a:rPr lang="en-US" sz="10400" b="1" spc="-166">
                <a:solidFill>
                  <a:srgbClr val="F6E7D8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Source Code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8082" y="493566"/>
            <a:ext cx="15191917" cy="207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40"/>
              </a:lnSpc>
            </a:pPr>
            <a:r>
              <a:rPr lang="en-US" sz="14000" b="1" spc="-224">
                <a:solidFill>
                  <a:srgbClr val="1222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Contenerization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969325"/>
            <a:ext cx="1623060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Images build with docker-</a:t>
            </a:r>
            <a:r>
              <a:rPr lang="en-US" sz="5199" b="1" dirty="0" err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compose.yaml</a:t>
            </a:r>
            <a:r>
              <a:rPr lang="en-US" sz="51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defined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256405"/>
            <a:ext cx="1520540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Jenkins trigger the docker compose command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543550"/>
            <a:ext cx="15205405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Images are getting pushed to dockerhub after successfull build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754620"/>
            <a:ext cx="15205405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docker image is given a unique number which is consecutive in 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25382" y="1331395"/>
            <a:ext cx="6834112" cy="3736330"/>
            <a:chOff x="0" y="0"/>
            <a:chExt cx="1799931" cy="9840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99931" cy="984054"/>
            </a:xfrm>
            <a:custGeom>
              <a:avLst/>
              <a:gdLst/>
              <a:ahLst/>
              <a:cxnLst/>
              <a:rect l="l" t="t" r="r" b="b"/>
              <a:pathLst>
                <a:path w="1799931" h="984054">
                  <a:moveTo>
                    <a:pt x="0" y="0"/>
                  </a:moveTo>
                  <a:lnTo>
                    <a:pt x="1799931" y="0"/>
                  </a:lnTo>
                  <a:lnTo>
                    <a:pt x="1799931" y="984054"/>
                  </a:lnTo>
                  <a:lnTo>
                    <a:pt x="0" y="984054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799931" cy="965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25382" y="5219276"/>
            <a:ext cx="6834112" cy="3736330"/>
            <a:chOff x="0" y="0"/>
            <a:chExt cx="1799931" cy="9840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9931" cy="984054"/>
            </a:xfrm>
            <a:custGeom>
              <a:avLst/>
              <a:gdLst/>
              <a:ahLst/>
              <a:cxnLst/>
              <a:rect l="l" t="t" r="r" b="b"/>
              <a:pathLst>
                <a:path w="1799931" h="984054">
                  <a:moveTo>
                    <a:pt x="0" y="0"/>
                  </a:moveTo>
                  <a:lnTo>
                    <a:pt x="1799931" y="0"/>
                  </a:lnTo>
                  <a:lnTo>
                    <a:pt x="1799931" y="984054"/>
                  </a:lnTo>
                  <a:lnTo>
                    <a:pt x="0" y="984054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799931" cy="965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01245" y="1331395"/>
            <a:ext cx="6834112" cy="3736330"/>
            <a:chOff x="0" y="0"/>
            <a:chExt cx="1799931" cy="9840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9931" cy="984054"/>
            </a:xfrm>
            <a:custGeom>
              <a:avLst/>
              <a:gdLst/>
              <a:ahLst/>
              <a:cxnLst/>
              <a:rect l="l" t="t" r="r" b="b"/>
              <a:pathLst>
                <a:path w="1799931" h="984054">
                  <a:moveTo>
                    <a:pt x="0" y="0"/>
                  </a:moveTo>
                  <a:lnTo>
                    <a:pt x="1799931" y="0"/>
                  </a:lnTo>
                  <a:lnTo>
                    <a:pt x="1799931" y="984054"/>
                  </a:lnTo>
                  <a:lnTo>
                    <a:pt x="0" y="984054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799931" cy="965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01245" y="5219276"/>
            <a:ext cx="6834112" cy="3736330"/>
            <a:chOff x="0" y="0"/>
            <a:chExt cx="1799931" cy="9840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99931" cy="984054"/>
            </a:xfrm>
            <a:custGeom>
              <a:avLst/>
              <a:gdLst/>
              <a:ahLst/>
              <a:cxnLst/>
              <a:rect l="l" t="t" r="r" b="b"/>
              <a:pathLst>
                <a:path w="1799931" h="984054">
                  <a:moveTo>
                    <a:pt x="0" y="0"/>
                  </a:moveTo>
                  <a:lnTo>
                    <a:pt x="1799931" y="0"/>
                  </a:lnTo>
                  <a:lnTo>
                    <a:pt x="1799931" y="984054"/>
                  </a:lnTo>
                  <a:lnTo>
                    <a:pt x="0" y="984054"/>
                  </a:lnTo>
                  <a:close/>
                </a:path>
              </a:pathLst>
            </a:custGeom>
            <a:solidFill>
              <a:srgbClr val="F6E7D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799931" cy="965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623211" y="3002934"/>
            <a:ext cx="4663955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 dirty="0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Deployment is getting started to always keep 2 pods running.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23211" y="6890815"/>
            <a:ext cx="4663955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 dirty="0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Two </a:t>
            </a:r>
            <a:r>
              <a:rPr lang="en-US" sz="2100" spc="-42" dirty="0" err="1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Replicasets</a:t>
            </a:r>
            <a:r>
              <a:rPr lang="en-US" sz="2100" spc="-42" dirty="0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 of pods are being Created.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99073" y="3002934"/>
            <a:ext cx="4663955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A Service is getting started by jenkins for load balancing between Pods and for single point of connection.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99073" y="7073695"/>
            <a:ext cx="4663955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 dirty="0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Two containers are being started in each pod, one for backend and one for frontend.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23211" y="1835016"/>
            <a:ext cx="4663955" cy="92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6399" b="1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DEPLOYMENT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23211" y="5722897"/>
            <a:ext cx="4663955" cy="92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6399" b="1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REPLICASETS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99073" y="1835016"/>
            <a:ext cx="4663955" cy="92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6399" b="1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SERVICE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99073" y="5722897"/>
            <a:ext cx="4663955" cy="92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6399" b="1" spc="127" dirty="0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POD IMPLEMENTATION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56497" y="1615941"/>
            <a:ext cx="966714" cy="114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999"/>
              </a:lnSpc>
              <a:spcBef>
                <a:spcPct val="0"/>
              </a:spcBef>
            </a:pPr>
            <a:r>
              <a:rPr lang="en-US" sz="6399" b="1" u="none" strike="noStrike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01.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56497" y="5503822"/>
            <a:ext cx="966714" cy="114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999"/>
              </a:lnSpc>
              <a:spcBef>
                <a:spcPct val="0"/>
              </a:spcBef>
            </a:pPr>
            <a:r>
              <a:rPr lang="en-US" sz="6399" b="1" u="none" strike="noStrike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03.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32359" y="1615941"/>
            <a:ext cx="966714" cy="114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999"/>
              </a:lnSpc>
              <a:spcBef>
                <a:spcPct val="0"/>
              </a:spcBef>
            </a:pPr>
            <a:r>
              <a:rPr lang="en-US" sz="6399" b="1" u="none" strike="noStrike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02.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32359" y="5503822"/>
            <a:ext cx="966714" cy="114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7999"/>
              </a:lnSpc>
              <a:spcBef>
                <a:spcPct val="0"/>
              </a:spcBef>
            </a:pPr>
            <a:r>
              <a:rPr lang="en-US" sz="6399" b="1" u="none" strike="noStrike" spc="127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04.</a:t>
            </a:r>
          </a:p>
        </p:txBody>
      </p:sp>
      <p:sp>
        <p:nvSpPr>
          <p:cNvPr id="26" name="TextBox 26"/>
          <p:cNvSpPr txBox="1"/>
          <p:nvPr/>
        </p:nvSpPr>
        <p:spPr>
          <a:xfrm rot="-5400000">
            <a:off x="-1648821" y="4370959"/>
            <a:ext cx="7624211" cy="154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64"/>
              </a:lnSpc>
              <a:spcBef>
                <a:spcPct val="0"/>
              </a:spcBef>
            </a:pPr>
            <a:r>
              <a:rPr lang="en-US" sz="10400" b="1" spc="-166">
                <a:solidFill>
                  <a:srgbClr val="F6E7D8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Deployment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226362" y="6368080"/>
            <a:ext cx="13715439" cy="0"/>
          </a:xfrm>
          <a:prstGeom prst="line">
            <a:avLst/>
          </a:prstGeom>
          <a:ln w="38100" cap="flat">
            <a:solidFill>
              <a:srgbClr val="12229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532326"/>
            <a:ext cx="16289022" cy="207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40"/>
              </a:lnSpc>
              <a:spcBef>
                <a:spcPct val="0"/>
              </a:spcBef>
            </a:pPr>
            <a:r>
              <a:rPr lang="en-US" sz="14000" b="1" spc="-224">
                <a:solidFill>
                  <a:srgbClr val="1222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Configuration &amp; Secrets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26362" y="8070407"/>
            <a:ext cx="5131923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700" spc="-54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All Enviornment Variables excluding credentials are saved in yaml files of kubernetes.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26362" y="7360030"/>
            <a:ext cx="3746047" cy="603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38"/>
              </a:lnSpc>
              <a:spcBef>
                <a:spcPct val="0"/>
              </a:spcBef>
            </a:pPr>
            <a:r>
              <a:rPr lang="en-US" sz="4200" b="1" spc="84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ENVIORNMENT VARIABLES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47670" y="3733997"/>
            <a:ext cx="2873585" cy="48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38"/>
              </a:lnSpc>
              <a:spcBef>
                <a:spcPct val="0"/>
              </a:spcBef>
            </a:pPr>
            <a:r>
              <a:rPr lang="en-US" sz="4200" b="1" spc="84" dirty="0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SECRET HANDLING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65985" y="7360030"/>
            <a:ext cx="3352751" cy="603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38"/>
              </a:lnSpc>
              <a:spcBef>
                <a:spcPct val="0"/>
              </a:spcBef>
            </a:pPr>
            <a:r>
              <a:rPr lang="en-US" sz="4200" b="1" spc="84">
                <a:solidFill>
                  <a:srgbClr val="1C191A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HARDCODING AVOIDED</a:t>
            </a:r>
          </a:p>
        </p:txBody>
      </p:sp>
      <p:sp>
        <p:nvSpPr>
          <p:cNvPr id="9" name="AutoShape 9"/>
          <p:cNvSpPr/>
          <p:nvPr/>
        </p:nvSpPr>
        <p:spPr>
          <a:xfrm>
            <a:off x="2229354" y="6368080"/>
            <a:ext cx="0" cy="657493"/>
          </a:xfrm>
          <a:prstGeom prst="line">
            <a:avLst/>
          </a:prstGeom>
          <a:ln w="38100" cap="flat">
            <a:solidFill>
              <a:srgbClr val="12229D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9465985" y="6368080"/>
            <a:ext cx="0" cy="657493"/>
          </a:xfrm>
          <a:prstGeom prst="line">
            <a:avLst/>
          </a:prstGeom>
          <a:ln w="38100" cap="flat">
            <a:solidFill>
              <a:srgbClr val="12229D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5847670" y="5710587"/>
            <a:ext cx="0" cy="657493"/>
          </a:xfrm>
          <a:prstGeom prst="line">
            <a:avLst/>
          </a:prstGeom>
          <a:ln w="38100" cap="flat">
            <a:solidFill>
              <a:srgbClr val="12229D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2104614" y="6243340"/>
            <a:ext cx="249480" cy="24948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12229D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22930" y="6243340"/>
            <a:ext cx="249480" cy="24948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12229D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41245" y="6243340"/>
            <a:ext cx="249480" cy="24948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12229D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817061" y="6243340"/>
            <a:ext cx="249480" cy="24948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12229D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12943477" y="5710587"/>
            <a:ext cx="0" cy="657493"/>
          </a:xfrm>
          <a:prstGeom prst="line">
            <a:avLst/>
          </a:prstGeom>
          <a:ln w="38100" cap="flat">
            <a:solidFill>
              <a:srgbClr val="12229D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2818737" y="6243340"/>
            <a:ext cx="249480" cy="24948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12229D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847670" y="4484403"/>
            <a:ext cx="3743056" cy="121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 spc="-46" dirty="0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Credentials of </a:t>
            </a:r>
            <a:r>
              <a:rPr lang="en-US" sz="2300" spc="-46" dirty="0" err="1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Dockerhub</a:t>
            </a:r>
            <a:r>
              <a:rPr lang="en-US" sz="2300" spc="-46" dirty="0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, </a:t>
            </a:r>
            <a:r>
              <a:rPr lang="en-US" sz="2300" spc="-46" dirty="0" err="1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Minikube</a:t>
            </a:r>
            <a:r>
              <a:rPr lang="en-US" sz="2300" spc="-46" dirty="0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 and SonarQube are Saved In </a:t>
            </a:r>
            <a:r>
              <a:rPr lang="en-US" sz="2300" spc="-46" dirty="0" err="1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jenkins</a:t>
            </a:r>
            <a:r>
              <a:rPr lang="en-US" sz="2300" spc="-46" dirty="0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 only.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65985" y="8079932"/>
            <a:ext cx="3021232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spc="-48">
                <a:solidFill>
                  <a:srgbClr val="1C191A"/>
                </a:solidFill>
                <a:latin typeface="Prompt"/>
                <a:ea typeface="Prompt"/>
                <a:cs typeface="Prompt"/>
                <a:sym typeface="Prompt"/>
              </a:rPr>
              <a:t>Hardcoding of credentials is strictly avoided.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15871" y="54263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207591" y="924560"/>
            <a:ext cx="5331359" cy="3687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40"/>
              </a:lnSpc>
            </a:pPr>
            <a:r>
              <a:rPr lang="en-US" sz="14000" b="1" spc="-224">
                <a:solidFill>
                  <a:srgbClr val="1222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Monitoring &amp; Logging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524" y="933450"/>
            <a:ext cx="10599492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Prometheus and Grafana are used for Monitoring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0524" y="3113086"/>
            <a:ext cx="10599492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Kubernetes Monitoring Dashboard is Used in Grafana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8511" y="5640024"/>
            <a:ext cx="10599492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CPU &amp; Memory Usage, resource efficiency and Cost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r="-5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4569" y="844153"/>
            <a:ext cx="849462" cy="744437"/>
          </a:xfrm>
          <a:custGeom>
            <a:avLst/>
            <a:gdLst/>
            <a:ahLst/>
            <a:cxnLst/>
            <a:rect l="l" t="t" r="r" b="b"/>
            <a:pathLst>
              <a:path w="849462" h="744437">
                <a:moveTo>
                  <a:pt x="0" y="0"/>
                </a:moveTo>
                <a:lnTo>
                  <a:pt x="849462" y="0"/>
                </a:lnTo>
                <a:lnTo>
                  <a:pt x="849462" y="744438"/>
                </a:lnTo>
                <a:lnTo>
                  <a:pt x="0" y="744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17382" y="744182"/>
            <a:ext cx="7968376" cy="207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40"/>
              </a:lnSpc>
            </a:pPr>
            <a:r>
              <a:rPr lang="en-US" sz="14000" b="1" spc="-224">
                <a:solidFill>
                  <a:srgbClr val="FDFDF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Challenges Faced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55276" y="3087117"/>
            <a:ext cx="14006225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19"/>
              </a:lnSpc>
            </a:pPr>
            <a:r>
              <a:rPr lang="en-US" sz="3299" spc="-65">
                <a:solidFill>
                  <a:srgbClr val="FDFDFD"/>
                </a:solidFill>
                <a:latin typeface="Prompt"/>
                <a:ea typeface="Prompt"/>
                <a:cs typeface="Prompt"/>
                <a:sym typeface="Prompt"/>
              </a:rPr>
              <a:t>Frontend and Backend was giving problems in Starting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5276" y="4528185"/>
            <a:ext cx="14006225" cy="292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19"/>
              </a:lnSpc>
            </a:pPr>
            <a:r>
              <a:rPr lang="en-US" sz="3299" spc="-65" dirty="0">
                <a:solidFill>
                  <a:srgbClr val="FDFDFD"/>
                </a:solidFill>
                <a:latin typeface="Prompt"/>
                <a:ea typeface="Prompt"/>
                <a:cs typeface="Prompt"/>
                <a:sym typeface="Prompt"/>
              </a:rPr>
              <a:t>Prometheus and Grafana was starting on Private IP, it was not accessible outside the VM, </a:t>
            </a:r>
            <a:r>
              <a:rPr lang="en-US" sz="3299" spc="-65" dirty="0" err="1">
                <a:solidFill>
                  <a:srgbClr val="FDFDFD"/>
                </a:solidFill>
                <a:latin typeface="Prompt"/>
                <a:ea typeface="Prompt"/>
                <a:cs typeface="Prompt"/>
                <a:sym typeface="Prompt"/>
              </a:rPr>
              <a:t>implimented</a:t>
            </a:r>
            <a:r>
              <a:rPr lang="en-US" sz="3299" spc="-65" dirty="0">
                <a:solidFill>
                  <a:srgbClr val="FDFDFD"/>
                </a:solidFill>
                <a:latin typeface="Prompt"/>
                <a:ea typeface="Prompt"/>
                <a:cs typeface="Prompt"/>
                <a:sym typeface="Prompt"/>
              </a:rPr>
              <a:t> reverse proxy to expose it on internet</a:t>
            </a:r>
          </a:p>
          <a:p>
            <a:pPr marL="0" lvl="0" indent="0" algn="l">
              <a:lnSpc>
                <a:spcPts val="4619"/>
              </a:lnSpc>
            </a:pPr>
            <a:endParaRPr lang="en-US" sz="3299" spc="-65" dirty="0">
              <a:solidFill>
                <a:srgbClr val="FDFDFD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0" lvl="0" indent="0" algn="l">
              <a:lnSpc>
                <a:spcPts val="4619"/>
              </a:lnSpc>
            </a:pPr>
            <a:endParaRPr lang="en-US" sz="3299" spc="-65" dirty="0">
              <a:solidFill>
                <a:srgbClr val="FDFDFD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55276" y="6148280"/>
            <a:ext cx="14006225" cy="1749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19"/>
              </a:lnSpc>
            </a:pPr>
            <a:endParaRPr lang="en-US" sz="3299" spc="-65" dirty="0">
              <a:solidFill>
                <a:srgbClr val="FDFDFD"/>
              </a:solidFill>
              <a:latin typeface="Prompt"/>
              <a:ea typeface="Prompt"/>
              <a:cs typeface="Prompt"/>
              <a:sym typeface="Prompt"/>
            </a:endParaRPr>
          </a:p>
          <a:p>
            <a:pPr marL="0" lvl="0" indent="0" algn="l">
              <a:lnSpc>
                <a:spcPts val="4619"/>
              </a:lnSpc>
            </a:pPr>
            <a:r>
              <a:rPr lang="en-US" sz="3299" spc="-65" dirty="0">
                <a:solidFill>
                  <a:srgbClr val="FDFDFD"/>
                </a:solidFill>
                <a:latin typeface="Prompt"/>
                <a:ea typeface="Prompt"/>
                <a:cs typeface="Prompt"/>
                <a:sym typeface="Prompt"/>
              </a:rPr>
              <a:t>SonarQube was failing and not allowing the pipeline to proceed due to bad, code quality, handled it </a:t>
            </a:r>
            <a:r>
              <a:rPr lang="en-US" sz="3299" spc="-65" dirty="0" err="1">
                <a:solidFill>
                  <a:srgbClr val="FDFDFD"/>
                </a:solidFill>
                <a:latin typeface="Prompt"/>
                <a:ea typeface="Prompt"/>
                <a:cs typeface="Prompt"/>
                <a:sym typeface="Prompt"/>
              </a:rPr>
              <a:t>lateron</a:t>
            </a:r>
            <a:r>
              <a:rPr lang="en-US" sz="3299" spc="-65" dirty="0">
                <a:solidFill>
                  <a:srgbClr val="FDFDFD"/>
                </a:solidFill>
                <a:latin typeface="Prompt"/>
                <a:ea typeface="Prompt"/>
                <a:cs typeface="Prompt"/>
                <a:sym typeface="Prompt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9886" y="1872490"/>
            <a:ext cx="15488229" cy="562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189"/>
              </a:lnSpc>
              <a:spcBef>
                <a:spcPct val="0"/>
              </a:spcBef>
            </a:pPr>
            <a:r>
              <a:rPr lang="en-US" sz="28707" b="1">
                <a:solidFill>
                  <a:srgbClr val="F4F6FC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3033434" y="7501225"/>
            <a:ext cx="12221131" cy="0"/>
          </a:xfrm>
          <a:prstGeom prst="line">
            <a:avLst/>
          </a:prstGeom>
          <a:ln w="38100" cap="flat">
            <a:solidFill>
              <a:srgbClr val="F4F6F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8119823" y="8407149"/>
            <a:ext cx="7134743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5"/>
              </a:lnSpc>
            </a:pPr>
            <a:r>
              <a:rPr lang="en-US" sz="2796">
                <a:solidFill>
                  <a:srgbClr val="F4F6FC"/>
                </a:solidFill>
                <a:latin typeface="Prompt"/>
                <a:ea typeface="Prompt"/>
                <a:cs typeface="Prompt"/>
                <a:sym typeface="Prompt"/>
              </a:rPr>
              <a:t>31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360</Words>
  <Application>Microsoft Office PowerPoint</Application>
  <PresentationFormat>Custom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Canva Sans Bold</vt:lpstr>
      <vt:lpstr>Arial</vt:lpstr>
      <vt:lpstr>Calibri</vt:lpstr>
      <vt:lpstr>Prompt</vt:lpstr>
      <vt:lpstr>Prompt Light</vt:lpstr>
      <vt:lpstr>Heading Now 31-38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Borcelle church</dc:title>
  <dc:creator>hp</dc:creator>
  <cp:lastModifiedBy>Aryan Bamane</cp:lastModifiedBy>
  <cp:revision>6</cp:revision>
  <dcterms:created xsi:type="dcterms:W3CDTF">2006-08-16T00:00:00Z</dcterms:created>
  <dcterms:modified xsi:type="dcterms:W3CDTF">2026-02-02T03:56:00Z</dcterms:modified>
  <dc:identifier>DAG_57aweHU</dc:identifier>
</cp:coreProperties>
</file>